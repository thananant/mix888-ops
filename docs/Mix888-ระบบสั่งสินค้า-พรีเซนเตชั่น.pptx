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สไลด์ปก — แนะนำว่านี่คือระบบหลังบ้านที่ใช้จริงทุกวันของ Mix Fresh 168 ไม่ใช่ระบบสำเร็จรูปที่ซื้อมา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เน้นว่าเป็นระบบที่เขียนตามกระบวนการจริงของร้าน ไม่ใช่โปรแกรมสำเร็จรูปที่ต้องปรับวิธีทำงานตาม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สไลด์นี้ใช้ตอบคำถาม "ทำไมต้องมีระบบ" — เน้นงานที่หายไปจากมือคน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NAS ทำหน้าที่วาดรูปบิลสวย ๆ เพราะ Edge Function มีเพดานซีพียู · ถ้า NAS ล่ม Edge จะวาดเทมเพลตเรียบง่ายแทนให้อัตโนมัติ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ย้ำว่าทั้ง 5 ส่วนใช้ฐานข้อมูลเดียวกัน จึงไม่มีปัญหาข้อมูลไม่ตรงกันระหว่างระบบ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จุดขายคือลูกค้าร้านอาหารส่วนใหญ่ไม่อยากโหลดแอป — เปิดลิงก์จากกลุ่มไลน์ได้เลย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พนักงานคนหนึ่งมักใช้แค่ 3-4 หน้า — เมนูจึงพับกลุ่มไว้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การ์ดทุกใบกดเข้าไปดูรายละเอียดได้ ไม่ใช่แค่ตัวเลขนิ่ง 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ขั้นที่ 2-3 เป็นหัวใจ: ปุ่มเดียวทำทั้งตัดสต๊อก ออกเลขบิล วาดรูป และส่งไลน์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ชี้ให้ดูบรรทัดต้นทุน/กำไร ซึ่งเห็นเฉพาะหลังบ้าน ไม่ขึ้นบนบิลลูกค้า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เน้นเรื่อง audit trail — ใครทำอะไรไว้ ระบบจำหมด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FIFO ทำฝั่งฐานข้อมูล (ฟังก์ชัน fifo_consume_order) จึงไม่มีทางคิดพลาดจากหน้าเว็บ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ค่าเริ่มต้นของร้าน: สั่งทุกวันที่ 1 และ 15 รอของ 30 วัน จึงต้องมีของครอบคลุม 60 วัน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เคยเจอปัญหารอบ 06:00 ตายเพราะซีพียูเต็ม จึงเพิ่มยามตรวจซ้ำใน cron-43 และระบบจองก่อนส่งใน cron-44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นี่คือเหตุผลที่ยังไม่ต้องอัปเกรดเป็น Supabase Pro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CRM คำนวณรอบสั่งเฉลี่ยของแต่ละร้านจากประวัติจริง ไม่ได้ตั้งเป็นค่าคงที่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ก่อนใช้ต้องรัน customers_created_by.sql เพิ่มคอลัมน์ created_by ในตาราง customers ก่อน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ย้ำว่าคีย์ที่ฝังในหน้าเว็บเป็นคีย์สาธารณะโดยตั้งใจ ความปลอดภัยจริงอยู่ที่ RLS ฝั่งฐานข้อมูล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พูดข้อจำกัดตรง ๆ ด้วย จะน่าเชื่อถือกว่าการขายข้อดีอย่างเดียว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สองข้อแรกคือสิ่งที่รอข้อมูลจากภายนอกอยู่ ไม่ได้ติดที่ระบบ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ปิดท้ายด้วยการเปิดให้ถามคำถาม และชี้ไปที่คู่มือ PDF ฉบับเต็ม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852160" cy="5852160"/>
          </a:xfrm>
          <a:prstGeom prst="ellipse">
            <a:avLst/>
          </a:prstGeom>
          <a:solidFill>
            <a:srgbClr val="5C0F0E"/>
          </a:solidFill>
          <a:ln w="12700">
            <a:solidFill>
              <a:srgbClr val="5C0F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4206240"/>
            <a:ext cx="3291840" cy="3291840"/>
          </a:xfrm>
          <a:prstGeom prst="ellipse">
            <a:avLst/>
          </a:prstGeom>
          <a:solidFill>
            <a:srgbClr val="6B1110"/>
          </a:solidFill>
          <a:ln w="12700">
            <a:solidFill>
              <a:srgbClr val="6B1110"/>
            </a:solidFill>
            <a:prstDash val="solid"/>
          </a:ln>
        </p:spPr>
      </p:sp>
      <p:pic>
        <p:nvPicPr>
          <p:cNvPr id="4" name="Image 0" descr="/home/user/thananant/mix888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51560"/>
            <a:ext cx="1691640" cy="1691640"/>
          </a:xfrm>
          <a:prstGeom prst="ellipse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29718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pc="200" kern="0" dirty="0">
                <a:solidFill>
                  <a:srgbClr val="F0B4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ระบบสั่งสินค้า B2B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401568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Mix Fresh 168</a:t>
            </a:r>
            <a:endParaRPr lang="en-US" sz="5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4988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3D9D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ตั้งแต่ลูกค้ากดสั่ง → ออกบิล → ตัดสต๊อก → ส่งของ → เก็บเงิน → สรุปเข้าไลน์ ในระบบเดียว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80644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A19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เอกสารแนะนำระบบ · build 25/08-A · สิงหาคม 2569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14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ระบบนี้คืออะไร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เว็บแอปที่เขียนขึ้นเองเฉพาะงานของ Mix Fresh 168 — ไม่มีค่าไลเซนส์รายเดือน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916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ระบบสั่งสินค้าและบริหารหลังร้านแบบครบวงจรสำหรับธุรกิจขายส่งวัตถุดิบหม้อไฟ/หม่าล่า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606040"/>
            <a:ext cx="5760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ลูกค้าแต่ละร้านได้ลิงก์สั่งของของตัวเอง เปิดจากมือถือได้ทันที ไม่ต้องโหลดแอป ไม่ต้องสมัคร</a:t>
            </a:r>
            <a:endParaRPr lang="en-US" sz="140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พนักงานทำงานทุกอย่างจบในหน้าเว็บหลังบ้านเดียว 22 หน้างาน</a:t>
            </a:r>
            <a:endParaRPr lang="en-US" sz="140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บิล ใบเสนอราคา ใบโอน ใบเรียกของ ออกเป็นรูป/PDF ส่งเข้ากลุ่มไลน์ของร้านให้อัตโนมัติ</a:t>
            </a:r>
            <a:endParaRPr lang="en-US" sz="140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สต๊อกตัดแบบ FIFO แยกคลังได้ รู้ต้นทุนและกำไรขั้นต้นรายออเดอร์ทันที</a:t>
            </a:r>
            <a:endParaRPr lang="en-US" sz="140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มีรอบงานอัตโนมัติวิ่งเองทุกวัน แม้ไม่มีใครเปิดคอมพิวเตอร์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20840" y="1691640"/>
            <a:ext cx="2514600" cy="1645920"/>
          </a:xfrm>
          <a:prstGeom prst="roundRect">
            <a:avLst>
              <a:gd name="adj" fmla="val 7778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67144" y="1837944"/>
            <a:ext cx="2221992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20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22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867144" y="2679192"/>
            <a:ext cx="2221992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หน้างานในหลังบ้าน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464040" y="1691640"/>
            <a:ext cx="2514600" cy="1645920"/>
          </a:xfrm>
          <a:prstGeom prst="roundRect">
            <a:avLst>
              <a:gd name="adj" fmla="val 7778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610344" y="1837944"/>
            <a:ext cx="2221992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732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38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9610344" y="2679192"/>
            <a:ext cx="2221992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ตารางข้อมูลในระบบ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20840" y="3566160"/>
            <a:ext cx="2514600" cy="1645920"/>
          </a:xfrm>
          <a:prstGeom prst="roundRect">
            <a:avLst>
              <a:gd name="adj" fmla="val 7778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67144" y="3712464"/>
            <a:ext cx="2221992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867144" y="4553712"/>
            <a:ext cx="2221992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รอบงานอัตโนมัติ/วัน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464040" y="3566160"/>
            <a:ext cx="2514600" cy="1645920"/>
          </a:xfrm>
          <a:prstGeom prst="roundRect">
            <a:avLst>
              <a:gd name="adj" fmla="val 7778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610344" y="3712464"/>
            <a:ext cx="2221992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14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~1.4 วิ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9610344" y="4553712"/>
            <a:ext cx="2221992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เวลาวาดบิล 1 ใบ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14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เปลี่ยนอะไรไปบ้าง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เทียบวิธีทำงานเดิมกับหลังใช้ระบบ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440680" cy="4480560"/>
          </a:xfrm>
          <a:prstGeom prst="roundRect">
            <a:avLst>
              <a:gd name="adj" fmla="val 2857"/>
            </a:avLst>
          </a:prstGeom>
          <a:solidFill>
            <a:srgbClr val="F6EF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B2C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❌  แบบเดิม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3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ลูกค้าทักไลน์สั่งของเป็นข้อความ อ่านตกหล่น ตีความผิด</a:t>
            </a:r>
            <a:endParaRPr lang="en-US" sz="13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3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พิมพ์บิลในโปรแกรมแยก แล้วถ่ายรูปส่งไลน์เอง</a:t>
            </a:r>
            <a:endParaRPr lang="en-US" sz="13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3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สต๊อกอยู่ในสมุด/Excel คนละไฟล์กับบิล</a:t>
            </a:r>
            <a:endParaRPr lang="en-US" sz="13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3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ไม่รู้ว่าบิลไหนค้างจ่ายบ้าง ต้องไล่หาย้อนหลัง</a:t>
            </a:r>
            <a:endParaRPr lang="en-US" sz="13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3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สรุปออเดอร์ให้ทีมส่งของ ต้องนั่งพิมพ์เองทุกเช้า</a:t>
            </a:r>
            <a:endParaRPr lang="en-US" sz="13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3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ไม่รู้ต้นทุน/กำไรจนกว่าจะปิดเดือน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99632" y="1645920"/>
            <a:ext cx="5440680" cy="4480560"/>
          </a:xfrm>
          <a:prstGeom prst="roundRect">
            <a:avLst>
              <a:gd name="adj" fmla="val 2857"/>
            </a:avLst>
          </a:prstGeom>
          <a:solidFill>
            <a:srgbClr val="ECF5F1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01384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✅  หลังใช้ระบบ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501384" y="242316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3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ลูกค้ากดสั่งจากรายการสินค้าของร้านตัวเอง จำนวนชัดเจน</a:t>
            </a:r>
            <a:endParaRPr lang="en-US" sz="13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3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ออกบิลปุ่มเดียว ระบบวาดรูปบิลและส่งเข้ากลุ่มไลน์ให้เอง</a:t>
            </a:r>
            <a:endParaRPr lang="en-US" sz="13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3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สต๊อกตัดอัตโนมัติตอนออกบิล แยกคลังและล็อตให้</a:t>
            </a:r>
            <a:endParaRPr lang="en-US" sz="13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3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หน้าบัญชีเห็นบิลค้าง อายุหนี้ และสลิปที่ยังไม่จับคู่</a:t>
            </a:r>
            <a:endParaRPr lang="en-US" sz="13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3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สรุปออเดอร์เข้ากลุ่มกลางเองทุกเช้า 06:00 น.</a:t>
            </a:r>
            <a:endParaRPr lang="en-US" sz="13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3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เห็นต้นทุน FIFO และกำไรขั้นต้นตั้งแต่ตอนออกบิล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14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โครงสร้างระบบ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ทุกอย่างวิ่งบนคลาวด์ ยกเว้นตัววาดรูปบิลที่อยู่บน NAS ในออฟฟิศ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2331720" cy="1371600"/>
          </a:xfrm>
          <a:prstGeom prst="roundRect">
            <a:avLst>
              <a:gd name="adj" fmla="val 8000"/>
            </a:avLst>
          </a:prstGeom>
          <a:solidFill>
            <a:srgbClr val="E5732F"/>
          </a:solidFill>
          <a:ln w="12700">
            <a:solidFill>
              <a:srgbClr val="E573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" y="2112264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📱 ลูกค้า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2496312"/>
            <a:ext cx="2112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เปิดลิงก์ร้านตัวเอง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สั่งของจากมือถือ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17520" y="2542032"/>
            <a:ext cx="502920" cy="237744"/>
          </a:xfrm>
          <a:prstGeom prst="rightArrow">
            <a:avLst/>
          </a:prstGeom>
          <a:solidFill>
            <a:srgbClr val="D8C6C0"/>
          </a:solidFill>
          <a:ln w="12700">
            <a:solidFill>
              <a:srgbClr val="D8C6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48456" y="1965960"/>
            <a:ext cx="2331720" cy="1371600"/>
          </a:xfrm>
          <a:prstGeom prst="roundRect">
            <a:avLst>
              <a:gd name="adj" fmla="val 8000"/>
            </a:avLst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58184" y="2112264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🌐 หน้าเว็บสั่งของ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3758184" y="2496312"/>
            <a:ext cx="2112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index.html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บน GitHub Pages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99048" y="2542032"/>
            <a:ext cx="502920" cy="237744"/>
          </a:xfrm>
          <a:prstGeom prst="rightArrow">
            <a:avLst/>
          </a:prstGeom>
          <a:solidFill>
            <a:srgbClr val="D8C6C0"/>
          </a:solidFill>
          <a:ln w="12700">
            <a:solidFill>
              <a:srgbClr val="D8C6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29984" y="141732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7A1412"/>
          </a:solidFill>
          <a:ln w="12700">
            <a:solidFill>
              <a:srgbClr val="7A141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39712" y="1563624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🗄️ Supabase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839712" y="1947672"/>
            <a:ext cx="24323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ฐานข้อมูล PostgreSQL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Storage เก็บรูปบิล/สลิป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Edge Function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pg_cron ตั้งเวลา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509760" y="2542032"/>
            <a:ext cx="502920" cy="237744"/>
          </a:xfrm>
          <a:prstGeom prst="rightArrow">
            <a:avLst/>
          </a:prstGeom>
          <a:solidFill>
            <a:srgbClr val="D8C6C0"/>
          </a:solidFill>
          <a:ln w="12700">
            <a:solidFill>
              <a:srgbClr val="D8C6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40696" y="196596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0F7A5C"/>
          </a:solidFill>
          <a:ln w="12700">
            <a:solidFill>
              <a:srgbClr val="0F7A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250424" y="2112264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💬 LINE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0250424" y="2496312"/>
            <a:ext cx="1472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บิล/สรุป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เข้ากลุ่ม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48456" y="4160520"/>
            <a:ext cx="2331720" cy="1234440"/>
          </a:xfrm>
          <a:prstGeom prst="roundRect">
            <a:avLst>
              <a:gd name="adj" fmla="val 8889"/>
            </a:avLst>
          </a:prstGeom>
          <a:solidFill>
            <a:srgbClr val="C0201F"/>
          </a:solidFill>
          <a:ln w="12700">
            <a:solidFill>
              <a:srgbClr val="C0201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58184" y="4306824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🖥️ หน้าหลังบ้าน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3758184" y="4690872"/>
            <a:ext cx="2112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wnqz-…html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พนักงานใช้ทำงาน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3886200"/>
            <a:ext cx="237744" cy="274320"/>
          </a:xfrm>
          <a:prstGeom prst="upArrow">
            <a:avLst/>
          </a:prstGeom>
          <a:solidFill>
            <a:srgbClr val="D8C6C0"/>
          </a:solidFill>
          <a:ln w="12700">
            <a:solidFill>
              <a:srgbClr val="D8C6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9984" y="41605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3D6B8C"/>
          </a:solidFill>
          <a:ln w="12700">
            <a:solidFill>
              <a:srgbClr val="3D6B8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39712" y="4306824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📦 NAS DS925+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6839712" y="4690872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mix888-renderer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วาดรูปบิลเทมเพลต 2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955280" y="3886200"/>
            <a:ext cx="237744" cy="274320"/>
          </a:xfrm>
          <a:prstGeom prst="upArrow">
            <a:avLst/>
          </a:prstGeom>
          <a:solidFill>
            <a:srgbClr val="D8C6C0"/>
          </a:solidFill>
          <a:ln w="12700">
            <a:solidFill>
              <a:srgbClr val="D8C6C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6928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หน้าเว็บทั้งสองฝั่งเป็นไฟล์ HTML ไฟล์เดียวจบ ไม่มีเซิร์ฟเวอร์ให้ดูแล — คุยกับฐานข้อมูลตรงผ่าน API ที่ปิดสิทธิ์ด้วย RLS ทุกตาราง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14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ระบบประกอบด้วย 5 ส่วน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แต่ละส่วนทำหน้าที่ต่างกัน แต่ใช้ฐานข้อมูลชุดเดียวกัน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66928" cy="566928"/>
          </a:xfrm>
          <a:prstGeom prst="ellipse">
            <a:avLst/>
          </a:prstGeom>
          <a:solidFill>
            <a:srgbClr val="E5732F"/>
          </a:solidFill>
          <a:ln w="12700">
            <a:solidFill>
              <a:srgbClr val="E573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🛒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35608" y="17007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หน้าสั่งของของลูกค้า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1435608" y="20116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ลิงก์เฉพาะร้าน เห็นเฉพาะสินค้าที่จัดให้ ราคาเฉพาะร้าน มีรหัส PIN 6 หลักยืนยันก่อนสั่ง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697480"/>
            <a:ext cx="566928" cy="566928"/>
          </a:xfrm>
          <a:prstGeom prst="ellipse">
            <a:avLst/>
          </a:prstGeom>
          <a:solidFill>
            <a:srgbClr val="C0201F"/>
          </a:solidFill>
          <a:ln w="12700">
            <a:solidFill>
              <a:srgbClr val="C020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🖥️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435608" y="266090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หน้าหลังบ้าน 22 หน้างาน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1435608" y="29718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ขาย บัญชี สต๊อก จัดซื้อ ลูกค้า เซลล์ โปรโมชั่น ผู้ใช้ — ใช้ได้ทั้งบนคอมและแท็บเล็ต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657600"/>
            <a:ext cx="566928" cy="566928"/>
          </a:xfrm>
          <a:prstGeom prst="ellipse">
            <a:avLst/>
          </a:prstGeom>
          <a:solidFill>
            <a:srgbClr val="7A1412"/>
          </a:solidFill>
          <a:ln w="12700">
            <a:solidFill>
              <a:srgbClr val="7A141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657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🗄️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435608" y="362102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ฐานข้อมูล Supabase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1435608" y="393192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PostgreSQL 38 ตาราง + ที่เก็บไฟล์บิล/สลิป + ฟังก์ชันคิดสต๊อก FIFO ฝั่งเซิร์ฟเวอร์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617720"/>
            <a:ext cx="566928" cy="566928"/>
          </a:xfrm>
          <a:prstGeom prst="ellipse">
            <a:avLst/>
          </a:prstGeom>
          <a:solidFill>
            <a:srgbClr val="0F7A5C"/>
          </a:solidFill>
          <a:ln w="12700">
            <a:solidFill>
              <a:srgbClr val="0F7A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617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⏰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458114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รอบงานอัตโนมัติ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435608" y="489204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ออกบิลอัตโนมัติทุก 3 นาที · สรุปออเดอร์เข้าไลน์ 06:00 น. · ยามตรวจซ้ำทุก 15 นาที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5577840"/>
            <a:ext cx="566928" cy="566928"/>
          </a:xfrm>
          <a:prstGeom prst="ellipse">
            <a:avLst/>
          </a:prstGeom>
          <a:solidFill>
            <a:srgbClr val="3D6B8C"/>
          </a:solidFill>
          <a:ln w="12700">
            <a:solidFill>
              <a:srgbClr val="3D6B8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5577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📦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435608" y="554126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ตัววาดบิลบน NAS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1435608" y="585216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วาดบิลเทมเพลตเต็มรูปแบบพร้อมบาร์โค้ดและลายเซ็น ~1.4 วินาทีต่อใบ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14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ฝั่งลูกค้า — สั่งของใน 4 ขั้น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ลูกค้าไม่ต้องโหลดแอป ไม่ต้องสมัคร ไม่ต้องจำรหัสผ่าน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548640" cy="548640"/>
          </a:xfrm>
          <a:prstGeom prst="ellipse">
            <a:avLst/>
          </a:prstGeom>
          <a:solidFill>
            <a:srgbClr val="C0201F"/>
          </a:solidFill>
          <a:ln w="12700">
            <a:solidFill>
              <a:srgbClr val="C020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89888" y="17465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เปิดลิงก์ของร้านตัวเอง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208483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ลิงก์ฝังโทเคนเฉพาะร้าน · ปักหมุดไว้ในกลุ่มไลน์ได้เลย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2898648"/>
            <a:ext cx="548640" cy="548640"/>
          </a:xfrm>
          <a:prstGeom prst="ellipse">
            <a:avLst/>
          </a:prstGeom>
          <a:solidFill>
            <a:srgbClr val="E5732F"/>
          </a:solidFill>
          <a:ln w="12700">
            <a:solidFill>
              <a:srgbClr val="E573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898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89888" y="286207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เลือกสินค้า + ใส่จำนวน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89888" y="320040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เห็นเฉพาะสินค้าที่จัดให้ร้านนี้ พร้อมราคาเฉพาะร้านและป้ายสถานะสต๊อก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4014216"/>
            <a:ext cx="548640" cy="548640"/>
          </a:xfrm>
          <a:prstGeom prst="ellipse">
            <a:avLst/>
          </a:prstGeom>
          <a:solidFill>
            <a:srgbClr val="C0201F"/>
          </a:solidFill>
          <a:ln w="12700">
            <a:solidFill>
              <a:srgbClr val="C020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40142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89888" y="397764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ใส่รหัส PIN 6 หลัก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89888" y="431596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กันคนอื่นสั่งแทน · กรอกครั้งเดียว เครื่องนั้นจำให้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5129784"/>
            <a:ext cx="548640" cy="548640"/>
          </a:xfrm>
          <a:prstGeom prst="ellipse">
            <a:avLst/>
          </a:prstGeom>
          <a:solidFill>
            <a:srgbClr val="E5732F"/>
          </a:solidFill>
          <a:ln w="12700">
            <a:solidFill>
              <a:srgbClr val="E573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51297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89888" y="5093208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ระบบแจ้งเข้ากลุ่มทันที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89888" y="5431536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ออเดอร์เด้งเข้าหลังบ้าน + แจ้งกลุ่มกลาง แล้วรอออกบิล</a:t>
            </a:r>
            <a:endParaRPr lang="en-US" sz="1250" dirty="0"/>
          </a:p>
        </p:txBody>
      </p:sp>
      <p:pic>
        <p:nvPicPr>
          <p:cNvPr id="20" name="Image 0" descr="/home/user/mix888-ops/docs/img/30-shop-cata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417320"/>
            <a:ext cx="2395728" cy="5010912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818120" y="64556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หน้าสั่งของจริงบนมือถือ (ข้อมูลตัวอย่าง)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14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หลังบ้าน 22 หน้างาน จัดเป็น 8 กลุ่ม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เมนูซ้ายมือพับเก็บได้ กดเข้าหน้าที่ใช้บ่อยได้ในคลิกเดียว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440680" cy="1005840"/>
          </a:xfrm>
          <a:prstGeom prst="roundRect">
            <a:avLst>
              <a:gd name="adj" fmla="val 12727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11096"/>
            <a:ext cx="566928" cy="566928"/>
          </a:xfrm>
          <a:prstGeom prst="ellipse">
            <a:avLst/>
          </a:prstGeom>
          <a:solidFill>
            <a:srgbClr val="C0201F"/>
          </a:solidFill>
          <a:ln w="12700">
            <a:solidFill>
              <a:srgbClr val="C020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1911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📊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99616" y="183794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ภาพรวม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2148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การ์ดสรุป กราฟยอดขาย ลูกหนี้ ลูกค้าใหม่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99632" y="1691640"/>
            <a:ext cx="5440680" cy="1005840"/>
          </a:xfrm>
          <a:prstGeom prst="roundRect">
            <a:avLst>
              <a:gd name="adj" fmla="val 12727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911096"/>
            <a:ext cx="566928" cy="566928"/>
          </a:xfrm>
          <a:prstGeom prst="ellipse">
            <a:avLst/>
          </a:prstGeom>
          <a:solidFill>
            <a:srgbClr val="E5732F"/>
          </a:solidFill>
          <a:ln w="12700">
            <a:solidFill>
              <a:srgbClr val="E573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911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🧾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83794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งานขาย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148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ทำบิล · ใบเสนอราคา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5440680" cy="1005840"/>
          </a:xfrm>
          <a:prstGeom prst="roundRect">
            <a:avLst>
              <a:gd name="adj" fmla="val 12727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" y="3072384"/>
            <a:ext cx="566928" cy="566928"/>
          </a:xfrm>
          <a:prstGeom prst="ellipse">
            <a:avLst/>
          </a:prstGeom>
          <a:solidFill>
            <a:srgbClr val="0F7A5C"/>
          </a:solidFill>
          <a:ln w="12700">
            <a:solidFill>
              <a:srgbClr val="0F7A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8096" y="30723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💰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99616" y="299923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บัญชี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499616" y="33101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บัญชีลูกหนี้ · รายจ่าย Petty Cash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99632" y="2852928"/>
            <a:ext cx="5440680" cy="1005840"/>
          </a:xfrm>
          <a:prstGeom prst="roundRect">
            <a:avLst>
              <a:gd name="adj" fmla="val 12727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3072384"/>
            <a:ext cx="566928" cy="56692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30723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📅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299923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แพลนสั่งซื้อ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3101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คำนวณของที่ต้องสั่งรอบหน้า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014216"/>
            <a:ext cx="5440680" cy="1005840"/>
          </a:xfrm>
          <a:prstGeom prst="roundRect">
            <a:avLst>
              <a:gd name="adj" fmla="val 12727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8096" y="4233672"/>
            <a:ext cx="566928" cy="566928"/>
          </a:xfrm>
          <a:prstGeom prst="ellipse">
            <a:avLst/>
          </a:prstGeom>
          <a:solidFill>
            <a:srgbClr val="8A5A2B"/>
          </a:solidFill>
          <a:ln w="12700">
            <a:solidFill>
              <a:srgbClr val="8A5A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8096" y="4233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🛒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499616" y="41605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จัดซื้อ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1499616" y="447141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รายการสั่งซื้อ · ซัพพลายเออร์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99632" y="4014216"/>
            <a:ext cx="5440680" cy="1005840"/>
          </a:xfrm>
          <a:prstGeom prst="roundRect">
            <a:avLst>
              <a:gd name="adj" fmla="val 12727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4233672"/>
            <a:ext cx="566928" cy="566928"/>
          </a:xfrm>
          <a:prstGeom prst="ellipse">
            <a:avLst/>
          </a:prstGeom>
          <a:solidFill>
            <a:srgbClr val="7A1412"/>
          </a:solidFill>
          <a:ln w="12700">
            <a:solidFill>
              <a:srgbClr val="7A141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0" y="4233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📦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41605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สินค้า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447141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สินค้า · เดินรายการ · โอนโกดัง · รับของ · คลัง · นับสต๊อก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" y="5175504"/>
            <a:ext cx="5440680" cy="1005840"/>
          </a:xfrm>
          <a:prstGeom prst="roundRect">
            <a:avLst>
              <a:gd name="adj" fmla="val 12727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68096" y="5394960"/>
            <a:ext cx="566928" cy="566928"/>
          </a:xfrm>
          <a:prstGeom prst="ellipse">
            <a:avLst/>
          </a:prstGeom>
          <a:solidFill>
            <a:srgbClr val="3D6B8C"/>
          </a:solidFill>
          <a:ln w="12700">
            <a:solidFill>
              <a:srgbClr val="3D6B8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68096" y="5394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👥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1499616" y="532180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ลูกค้า</a:t>
            </a:r>
            <a:endParaRPr lang="en-US" sz="1550" dirty="0"/>
          </a:p>
        </p:txBody>
      </p:sp>
      <p:sp>
        <p:nvSpPr>
          <p:cNvPr id="38" name="Text 36"/>
          <p:cNvSpPr txBox="1"/>
          <p:nvPr/>
        </p:nvSpPr>
        <p:spPr>
          <a:xfrm>
            <a:off x="1499616" y="563270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ลูกค้า · จัดสินค้า · ค่าส่ง · CRM · ประวัติ · แผนที่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199632" y="5175504"/>
            <a:ext cx="5440680" cy="1005840"/>
          </a:xfrm>
          <a:prstGeom prst="roundRect">
            <a:avLst>
              <a:gd name="adj" fmla="val 12727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0800" y="5394960"/>
            <a:ext cx="566928" cy="566928"/>
          </a:xfrm>
          <a:prstGeom prst="ellipse">
            <a:avLst/>
          </a:prstGeom>
          <a:solidFill>
            <a:srgbClr val="6B4E9B"/>
          </a:solidFill>
          <a:ln w="12700">
            <a:solidFill>
              <a:srgbClr val="6B4E9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0" y="5394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🔐</a:t>
            </a:r>
            <a:endParaRPr 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7132320" y="532180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เซลล์ / โปรโมชั่น / ผู้ใช้</a:t>
            </a:r>
            <a:endParaRPr lang="en-US" sz="1550" dirty="0"/>
          </a:p>
        </p:txBody>
      </p:sp>
      <p:sp>
        <p:nvSpPr>
          <p:cNvPr id="43" name="Text 41"/>
          <p:cNvSpPr txBox="1"/>
          <p:nvPr/>
        </p:nvSpPr>
        <p:spPr>
          <a:xfrm>
            <a:off x="7132320" y="563270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เซลล์ · บรอดแคสต์ · ต้นทุน · ผู้ใช้ระบบ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14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หน้าภาพรวม — เปิดมาเห็นสถานะร้านทั้งหมด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เลือกช่วงเวลาได้: วันนี้ · 7 วัน · เดือนนี้ · หรือกำหนดเอง</a:t>
            </a:r>
            <a:endParaRPr lang="en-US" sz="1450" dirty="0"/>
          </a:p>
        </p:txBody>
      </p:sp>
      <p:pic>
        <p:nvPicPr>
          <p:cNvPr id="4" name="Image 0" descr="/home/user/mix888-ops/docs/img/02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7635240" cy="42793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5897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ตัวเลขในภาพเป็นข้อมูลตัวอย่างสำหรับสาธิต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458200" y="1627632"/>
            <a:ext cx="3182112" cy="932688"/>
          </a:xfrm>
          <a:prstGeom prst="roundRect">
            <a:avLst>
              <a:gd name="adj" fmla="val 13725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41080" y="17465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14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ยอดขาย + กำไรขั้นต้น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41080" y="203911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เห็นกำไรจริงหลังหักต้นทุน FIFO ในช่วงที่เลือก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458200" y="2706624"/>
            <a:ext cx="3182112" cy="932688"/>
          </a:xfrm>
          <a:prstGeom prst="roundRect">
            <a:avLst>
              <a:gd name="adj" fmla="val 13725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641080" y="28254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14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ยอดค้างจ่าย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641080" y="311810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กดเข้าไปดูแยกรายเดือนและรายเซลล์ได้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458200" y="3785616"/>
            <a:ext cx="3182112" cy="932688"/>
          </a:xfrm>
          <a:prstGeom prst="roundRect">
            <a:avLst>
              <a:gd name="adj" fmla="val 13725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641080" y="39044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14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ลูกค้าใหม่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8641080" y="419709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กดดูได้ว่าวันไหนเพิ่มกี่ราย และใครเป็นคนเพิ่ม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458200" y="4864608"/>
            <a:ext cx="3182112" cy="932688"/>
          </a:xfrm>
          <a:prstGeom prst="roundRect">
            <a:avLst>
              <a:gd name="adj" fmla="val 13725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641080" y="4983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14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ลูกหนี้ตามอายุหนี้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8641080" y="527608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แบ่งช่วง 30 / 60 / 90 / เกิน 90 วัน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14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เส้นทางของหนึ่งออเดอร์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ตั้งแต่ลูกค้ากดสั่ง จนถึงเงินเข้าและปิดยอด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2121408" cy="2743200"/>
          </a:xfrm>
          <a:prstGeom prst="roundRect">
            <a:avLst>
              <a:gd name="adj" fmla="val 6034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4168" y="2212848"/>
            <a:ext cx="566928" cy="566928"/>
          </a:xfrm>
          <a:prstGeom prst="ellipse">
            <a:avLst/>
          </a:prstGeom>
          <a:solidFill>
            <a:srgbClr val="E5732F"/>
          </a:solidFill>
          <a:ln w="12700">
            <a:solidFill>
              <a:srgbClr val="E573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44168" y="2212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92608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ลูกค้าสั่ง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3310128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ระบบจองสต๊อกไว้ทันที และแจ้งเข้ากลุ่มกลาง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24912" y="3218688"/>
            <a:ext cx="137160" cy="201168"/>
          </a:xfrm>
          <a:prstGeom prst="rightArrow">
            <a:avLst/>
          </a:prstGeom>
          <a:solidFill>
            <a:srgbClr val="D8C6C0"/>
          </a:solidFill>
          <a:ln w="12700">
            <a:solidFill>
              <a:srgbClr val="D8C6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71216" y="1965960"/>
            <a:ext cx="2121408" cy="2743200"/>
          </a:xfrm>
          <a:prstGeom prst="roundRect">
            <a:avLst>
              <a:gd name="adj" fmla="val 6034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48456" y="2212848"/>
            <a:ext cx="566928" cy="566928"/>
          </a:xfrm>
          <a:prstGeom prst="ellipse">
            <a:avLst/>
          </a:prstGeom>
          <a:solidFill>
            <a:srgbClr val="C0201F"/>
          </a:solidFill>
          <a:ln w="12700">
            <a:solidFill>
              <a:srgbClr val="C020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48456" y="2212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999232" y="292608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ออกบิล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999232" y="3310128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ใส่ค่าส่ง/ส่วนลด กดออกบิล — ตัดสต๊อกจริงแบบ FIFO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0" y="3218688"/>
            <a:ext cx="137160" cy="201168"/>
          </a:xfrm>
          <a:prstGeom prst="rightArrow">
            <a:avLst/>
          </a:prstGeom>
          <a:solidFill>
            <a:srgbClr val="D8C6C0"/>
          </a:solidFill>
          <a:ln w="12700">
            <a:solidFill>
              <a:srgbClr val="D8C6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75504" y="1965960"/>
            <a:ext cx="2121408" cy="2743200"/>
          </a:xfrm>
          <a:prstGeom prst="roundRect">
            <a:avLst>
              <a:gd name="adj" fmla="val 6034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52744" y="2212848"/>
            <a:ext cx="566928" cy="566928"/>
          </a:xfrm>
          <a:prstGeom prst="ellipse">
            <a:avLst/>
          </a:prstGeom>
          <a:solidFill>
            <a:srgbClr val="7A1412"/>
          </a:solidFill>
          <a:ln w="12700">
            <a:solidFill>
              <a:srgbClr val="7A141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52744" y="2212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292608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ส่งเข้าไลน์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3310128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ระบบวาดรูปบิลแล้วส่งเข้ากลุ่มของร้านนั้นเอง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33488" y="3218688"/>
            <a:ext cx="137160" cy="201168"/>
          </a:xfrm>
          <a:prstGeom prst="rightArrow">
            <a:avLst/>
          </a:prstGeom>
          <a:solidFill>
            <a:srgbClr val="D8C6C0"/>
          </a:solidFill>
          <a:ln w="12700">
            <a:solidFill>
              <a:srgbClr val="D8C6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79792" y="1965960"/>
            <a:ext cx="2121408" cy="2743200"/>
          </a:xfrm>
          <a:prstGeom prst="roundRect">
            <a:avLst>
              <a:gd name="adj" fmla="val 6034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57032" y="2212848"/>
            <a:ext cx="566928" cy="566928"/>
          </a:xfrm>
          <a:prstGeom prst="ellipse">
            <a:avLst/>
          </a:prstGeom>
          <a:solidFill>
            <a:srgbClr val="3D6B8C"/>
          </a:solidFill>
          <a:ln w="12700">
            <a:solidFill>
              <a:srgbClr val="3D6B8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57032" y="2212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607808" y="292608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ส่งของ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607808" y="3310128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กดยืนยันส่ง สถานะเปลี่ยนเป็น "ส่งแล้ว"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637776" y="3218688"/>
            <a:ext cx="137160" cy="201168"/>
          </a:xfrm>
          <a:prstGeom prst="rightArrow">
            <a:avLst/>
          </a:prstGeom>
          <a:solidFill>
            <a:srgbClr val="D8C6C0"/>
          </a:solidFill>
          <a:ln w="12700">
            <a:solidFill>
              <a:srgbClr val="D8C6C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84080" y="1965960"/>
            <a:ext cx="2121408" cy="2743200"/>
          </a:xfrm>
          <a:prstGeom prst="roundRect">
            <a:avLst>
              <a:gd name="adj" fmla="val 6034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561320" y="2212848"/>
            <a:ext cx="566928" cy="566928"/>
          </a:xfrm>
          <a:prstGeom prst="ellipse">
            <a:avLst/>
          </a:prstGeom>
          <a:solidFill>
            <a:srgbClr val="0F7A5C"/>
          </a:solidFill>
          <a:ln w="12700">
            <a:solidFill>
              <a:srgbClr val="0F7A5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561320" y="2212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9912096" y="292608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รับยอด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912096" y="3310128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แนบสลิป กดรับยอด ระบบบันทึกคนรับและเวลา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66928" y="5047488"/>
            <a:ext cx="11064240" cy="1143000"/>
          </a:xfrm>
          <a:prstGeom prst="roundRect">
            <a:avLst>
              <a:gd name="adj" fmla="val 11200"/>
            </a:avLst>
          </a:prstGeom>
          <a:solidFill>
            <a:srgbClr val="F6EF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68680" y="52578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7A14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ถ้าไม่มีใครกดเอง — ระบบออกบิลให้เองทุก 3 นาที และวาดรูปบิลรอไว้ให้ · ร้านที่ไม่อยากให้ออกบิลอัตโนมัติ ตั้งยกเว้นรายร้านได้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14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หน้าทำบิล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ออเดอร์ที่ลูกค้าสั่งเข้ามาจะมารออยู่ที่นี่</a:t>
            </a:r>
            <a:endParaRPr lang="en-US" sz="1450" dirty="0"/>
          </a:p>
        </p:txBody>
      </p:sp>
      <p:pic>
        <p:nvPicPr>
          <p:cNvPr id="4" name="Image 0" descr="/home/user/mix888-ops/docs/img/06-or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7635240" cy="42793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5897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การ์ดออเดอร์ 1 ใบ = 1 บิลที่กำลังจะออก (ข้อมูลตัวอย่าง)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458200" y="1691640"/>
            <a:ext cx="3200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เห็นต้นทุน FIFO และกำไรขั้นต้นก่อนตัดสินใจ</a:t>
            </a:r>
            <a:endParaRPr lang="en-US" sz="12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ใส่ค่าขนส่ง/ส่วนลดต่อบิลได้ กดคำนวณค่าส่ง BI อัตโนมัติ</a:t>
            </a:r>
            <a:endParaRPr lang="en-US" sz="12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แก้ออเดอร์ก่อนออกบิลได้ ไม่กินเลขบิล</a:t>
            </a:r>
            <a:endParaRPr lang="en-US" sz="12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ปุ่ม "ออกบิล + ส่ง LINE" จบในคลิกเดียว</a:t>
            </a:r>
            <a:endParaRPr lang="en-US" sz="12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ตั้งเวลาตัดรอบบิล และส่งสรุปรอบนี้เข้ากลุ่มกลางได้จากหน้านี้</a:t>
            </a:r>
            <a:endParaRPr lang="en-US" sz="12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ทดลองสรุปดูก่อนได้ โดยไม่ส่งเข้าไลน์จริง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14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หน้าบัญชี — ตามหนี้และรับยอด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กรองตามเซลล์ ขนส่ง สถานะส่ง และช่วงวันที่ได้พร้อมกัน</a:t>
            </a:r>
            <a:endParaRPr lang="en-US" sz="1450" dirty="0"/>
          </a:p>
        </p:txBody>
      </p:sp>
      <p:pic>
        <p:nvPicPr>
          <p:cNvPr id="4" name="Image 0" descr="/home/user/mix888-ops/docs/img/07-accou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7635240" cy="42793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5897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ตารางบิลพร้อมสถานะไลน์ / ส่ง / ชำระ (ข้อมูลตัวอย่าง)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458200" y="1691640"/>
            <a:ext cx="3200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แถวบนสุดคือออเดอร์ที่ยังไม่ออกบิล — ออกได้จากหน้านี้เลย</a:t>
            </a:r>
            <a:endParaRPr lang="en-US" sz="12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รับยอดเต็มหรือบางส่วนก็ได้ ระบบคิดยอดค้างที่เหลือให้</a:t>
            </a:r>
            <a:endParaRPr lang="en-US" sz="12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เก็บชื่อคนออกบิล คนสั่ง และคนรับยอดไว้ทุกใบ</a:t>
            </a:r>
            <a:endParaRPr lang="en-US" sz="12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แนบสลิปแล้วมีตัวช่วยหา "สลิปตกค้าง" ที่ยังไม่จับคู่บิล</a:t>
            </a:r>
            <a:endParaRPr lang="en-US" sz="12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พนักงานขอแก้บิลที่ส่งของแล้วได้ แต่ต้องให้ admin อนุมัติ</a:t>
            </a:r>
            <a:endParaRPr lang="en-US" sz="12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ดาวน์โหลด Excel รายเดือน หรือเฉพาะรายการที่กรองอยู่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14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สต๊อกและต้นทุนแบบ FIFO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รับของเข้าสร้างล็อต ขายตัดล็อตเก่าก่อน ต้นทุนจึงเป็นตัวเลขจริง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66928" cy="566928"/>
          </a:xfrm>
          <a:prstGeom prst="ellipse">
            <a:avLst/>
          </a:prstGeom>
          <a:solidFill>
            <a:srgbClr val="E5732F"/>
          </a:solidFill>
          <a:ln w="12700">
            <a:solidFill>
              <a:srgbClr val="E573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📥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35608" y="1746504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รับสินค้าเข้า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1435608" y="205740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บันทึกครั้งเดียว สต๊อกขึ้นทันที และหน้าสั่งของของลูกค้าเห็นตัวเลขใหม่แบบสด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807208"/>
            <a:ext cx="566928" cy="566928"/>
          </a:xfrm>
          <a:prstGeom prst="ellipse">
            <a:avLst/>
          </a:prstGeom>
          <a:solidFill>
            <a:srgbClr val="7A1412"/>
          </a:solidFill>
          <a:ln w="12700">
            <a:solidFill>
              <a:srgbClr val="7A141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807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🚛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435608" y="277063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โอนระหว่างคลัง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1435608" y="3081528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มีสูตรแนะนำว่าควรเรียกของจากโกดังเท่าไหร่ พร้อมออกใบโอนเป็นรูปส่งไลน์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831336"/>
            <a:ext cx="566928" cy="566928"/>
          </a:xfrm>
          <a:prstGeom prst="ellipse">
            <a:avLst/>
          </a:prstGeom>
          <a:solidFill>
            <a:srgbClr val="0F7A5C"/>
          </a:solidFill>
          <a:ln w="12700">
            <a:solidFill>
              <a:srgbClr val="0F7A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📋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435608" y="379476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นับ / ปรับสต๊อก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1435608" y="4105656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พิมพ์ใบเช็คสต๊อกเป็น PDF ไปนับมือ แล้วกรอกกลับ ระบบเก็บประวัติส่วนต่างให้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855464"/>
            <a:ext cx="566928" cy="566928"/>
          </a:xfrm>
          <a:prstGeom prst="ellipse">
            <a:avLst/>
          </a:prstGeom>
          <a:solidFill>
            <a:srgbClr val="C0201F"/>
          </a:solidFill>
          <a:ln w="12700">
            <a:solidFill>
              <a:srgbClr val="C020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8554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💰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481888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ต้นทุนสินค้า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435608" y="5129784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ล็อกด้วยรหัส 6 หลักแยกต่างหาก เปิดดูได้เฉพาะคนที่รู้รหัส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863840" y="1783080"/>
            <a:ext cx="3776472" cy="1417320"/>
          </a:xfrm>
          <a:prstGeom prst="roundRect">
            <a:avLst>
              <a:gd name="adj" fmla="val 9032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010144" y="1929384"/>
            <a:ext cx="3483864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14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FIFO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8010144" y="2633472"/>
            <a:ext cx="3483864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วิธีคิดต้นทุน — เข้าก่อนออกก่อน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63840" y="3364992"/>
            <a:ext cx="3776472" cy="1417320"/>
          </a:xfrm>
          <a:prstGeom prst="roundRect">
            <a:avLst>
              <a:gd name="adj" fmla="val 9032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010144" y="3511296"/>
            <a:ext cx="3483864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732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หลายคลัง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8010144" y="4215384"/>
            <a:ext cx="3483864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แยกยอดคงเหลือรายคลังได้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63840" y="4946904"/>
            <a:ext cx="3776472" cy="1051560"/>
          </a:xfrm>
          <a:prstGeom prst="roundRect">
            <a:avLst>
              <a:gd name="adj" fmla="val 12174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010144" y="5093208"/>
            <a:ext cx="3483864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จอง/คงเหลือ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8010144" y="5577840"/>
            <a:ext cx="3483864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แยกของที่ถูกจองไว้ออกจากของที่ขายได้จริง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14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แพลนสั่งซื้อ — ระบบบอกว่าต้องสั่งอะไรเท่าไหร่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อิงยอดขายจริงย้อนหลัง ไม่ใช่ความรู้สึก</a:t>
            </a:r>
            <a:endParaRPr lang="en-US" sz="1450" dirty="0"/>
          </a:p>
        </p:txBody>
      </p:sp>
      <p:pic>
        <p:nvPicPr>
          <p:cNvPr id="4" name="Image 0" descr="/home/user/mix888-ops/docs/img/13-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7635240" cy="42793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5897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ตารางแผนสั่งซื้อ พร้อมสถานะว่าตัวไหนควรสั่ง (ข้อมูลตัวอย่าง)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458200" y="1691640"/>
            <a:ext cx="3182112" cy="1965960"/>
          </a:xfrm>
          <a:prstGeom prst="roundRect">
            <a:avLst>
              <a:gd name="adj" fmla="val 6512"/>
            </a:avLst>
          </a:prstGeom>
          <a:solidFill>
            <a:srgbClr val="F6EF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41080" y="18470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4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สูตรที่ระบบใช้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41080" y="21945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เป้าหมาย = ขาย/วัน × (รอของ + รอบสั่ง + เผื่อฉุกเฉิน)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ต้องสั่ง = เป้าหมาย − (สต๊อก + ของกำลังมา − ยอดจอง)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388620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ปัดจำนวนขึ้นเป็นเลขลงท้าย 5 หรือ 0</a:t>
            </a:r>
            <a:endParaRPr lang="en-US" sz="120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บันทึกเป็นใบสั่งซื้อ แล้วตัดยอดตอนของมาถึง</a:t>
            </a:r>
            <a:endParaRPr lang="en-US" sz="120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คัดลอกข้อความสั่งซื้อส่งซัพพลายเออร์ได้เลย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14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รอบงานอัตโนมัติ — ระบบทำงานต่อแม้ปิดคอม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ตั้งเวลาไว้ที่ฐานข้อมูล ไม่ได้ผูกกับเครื่องใคร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529584" cy="3200400"/>
          </a:xfrm>
          <a:prstGeom prst="roundRect">
            <a:avLst>
              <a:gd name="adj" fmla="val 4000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48256" y="1993392"/>
            <a:ext cx="566928" cy="566928"/>
          </a:xfrm>
          <a:prstGeom prst="ellipse">
            <a:avLst/>
          </a:prstGeom>
          <a:solidFill>
            <a:srgbClr val="C0201F"/>
          </a:solidFill>
          <a:ln w="12700">
            <a:solidFill>
              <a:srgbClr val="C020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48256" y="1993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🧾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97480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ออกบิลอัตโนมัติ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054096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20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ทุก 3 นาที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290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ออเดอร์ที่ถึงรอบตัดจะถูกออกบิลและวาดรูปให้เอง ยกเว้นร้านที่ตั้งข้ามไว้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79392" y="1737360"/>
            <a:ext cx="3529584" cy="3200400"/>
          </a:xfrm>
          <a:prstGeom prst="roundRect">
            <a:avLst>
              <a:gd name="adj" fmla="val 4000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60720" y="1993392"/>
            <a:ext cx="566928" cy="566928"/>
          </a:xfrm>
          <a:prstGeom prst="ellipse">
            <a:avLst/>
          </a:prstGeom>
          <a:solidFill>
            <a:srgbClr val="0F7A5C"/>
          </a:solidFill>
          <a:ln w="12700">
            <a:solidFill>
              <a:srgbClr val="0F7A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60720" y="1993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📋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462272" y="2697480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สรุปออเดอร์เข้าไลน์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62272" y="3054096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ทุกวัน 06:00 น.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35424" y="34290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ส่งสรุปออเดอร์ให้ทีมจัดส่งเป็นไฟล์ PDF · ข้ามวันอาทิตย์และวันหยุดที่ตั้งไว้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91856" y="1737360"/>
            <a:ext cx="3529584" cy="3200400"/>
          </a:xfrm>
          <a:prstGeom prst="roundRect">
            <a:avLst>
              <a:gd name="adj" fmla="val 4000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73184" y="1993392"/>
            <a:ext cx="566928" cy="566928"/>
          </a:xfrm>
          <a:prstGeom prst="ellipse">
            <a:avLst/>
          </a:prstGeom>
          <a:solidFill>
            <a:srgbClr val="7A1412"/>
          </a:solidFill>
          <a:ln w="12700">
            <a:solidFill>
              <a:srgbClr val="7A141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73184" y="1993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🛡️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174736" y="2697480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ยามตรวจซ้ำ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174736" y="3054096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14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ทุก 15 นาที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47888" y="34290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ถ้ารอบ 06:00 พลาด ยามจะส่งแทนภายใน 15 นาที และกันส่งซ้ำด้วยระบบจองก่อนส่ง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5138928"/>
            <a:ext cx="11064240" cy="1097280"/>
          </a:xfrm>
          <a:prstGeom prst="roundRect">
            <a:avLst>
              <a:gd name="adj" fmla="val 11667"/>
            </a:avLst>
          </a:prstGeom>
          <a:solidFill>
            <a:srgbClr val="F6EF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68680" y="53492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7A14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กันส่งซ้ำ: ระบบ "จองรอบก่อนส่ง" + ดัชนีกันซ้ำในฐานข้อมูล — ต่อให้ยิงพร้อมกันหลายนัด สรุปก็ออกรอบละครั้งเดียว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14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ตัววาดบิลบน NAS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ย้ายงานหนักออกจากคลาวด์มาไว้ที่เครื่องในออฟฟิศ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40680" cy="3017520"/>
          </a:xfrm>
          <a:prstGeom prst="roundRect">
            <a:avLst>
              <a:gd name="adj" fmla="val 4242"/>
            </a:avLst>
          </a:prstGeom>
          <a:solidFill>
            <a:srgbClr val="F6EF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4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ทำไมต้องมี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Edge Function บนคลาวด์มีเพดานซีพียู วาดบิลสวย ๆ ที่มีบาร์โค้ดและลายเซ็นไม่ไหว</a:t>
            </a:r>
            <a:endParaRPr lang="en-US" sz="130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NAS DS925+ ในออฟฟิศว่างอยู่แล้ว และไม่คิดค่าประมวลผลเพิ่ม</a:t>
            </a:r>
            <a:endParaRPr lang="en-US" sz="130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วาดเสร็จอัปกลับขึ้นคลาวด์ให้เอง พนักงานไม่ต้องทำอะไร</a:t>
            </a:r>
            <a:endParaRPr lang="en-US" sz="130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ทำครั้งเดียวแล้วลืมได้ — ตัววาดทำงานต่อเนื่องเอง ไม่ต้องสั่งทีละใบ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99632" y="1783080"/>
            <a:ext cx="5440680" cy="3017520"/>
          </a:xfrm>
          <a:prstGeom prst="roundRect">
            <a:avLst>
              <a:gd name="adj" fmla="val 4242"/>
            </a:avLst>
          </a:prstGeom>
          <a:solidFill>
            <a:srgbClr val="ECF5F1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01384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ถ้า NAS ล่มล่ะ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01384" y="251460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บิลใบไหนค้างเกิน 10 นาที คลาวด์จะเข้ามาวาดแทนด้วยเทมเพลตเรียบง่าย</a:t>
            </a:r>
            <a:endParaRPr lang="en-US" sz="130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ลูกค้ายังได้บิลตามปกติ แค่หน้าตาเรียบกว่า</a:t>
            </a:r>
            <a:endParaRPr lang="en-US" sz="130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สลับโหมดได้จากค่าตั้งค่าตัวเดียวในฐานข้อมูล ไม่ต้องแก้โค้ด</a:t>
            </a:r>
            <a:endParaRPr lang="en-US" sz="130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พอ NAS กลับมา ระบบจะกลับไปวาดเทมเพลตเต็มรูปแบบให้เองโดยอัตโนมัติ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5120640"/>
            <a:ext cx="3529584" cy="1051560"/>
          </a:xfrm>
          <a:prstGeom prst="roundRect">
            <a:avLst>
              <a:gd name="adj" fmla="val 12174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13232" y="5266944"/>
            <a:ext cx="3236976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20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~1.4 วิ / ใบ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5751576"/>
            <a:ext cx="3236976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ความเร็ววาดบิลบน NAS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34256" y="5120640"/>
            <a:ext cx="3529584" cy="1051560"/>
          </a:xfrm>
          <a:prstGeom prst="roundRect">
            <a:avLst>
              <a:gd name="adj" fmla="val 12174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480560" y="5266944"/>
            <a:ext cx="3236976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5732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10 นาที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5751576"/>
            <a:ext cx="3236976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เกณฑ์ให้คลาวด์เข้ามาวาดแทน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01584" y="5120640"/>
            <a:ext cx="3538728" cy="1051560"/>
          </a:xfrm>
          <a:prstGeom prst="roundRect">
            <a:avLst>
              <a:gd name="adj" fmla="val 12174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47888" y="5266944"/>
            <a:ext cx="324612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 บาท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247888" y="5751576"/>
            <a:ext cx="3246120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ค่าประมวลผลเพิ่มต่อเดือน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14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ดูแลลูกค้าและกระตุ้นยอด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ระบบช่วยบอกว่าควรโทรหาใคร และควรส่งโปรอะไร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66928" cy="566928"/>
          </a:xfrm>
          <a:prstGeom prst="ellipse">
            <a:avLst/>
          </a:prstGeom>
          <a:solidFill>
            <a:srgbClr val="C0201F"/>
          </a:solidFill>
          <a:ln w="12700">
            <a:solidFill>
              <a:srgbClr val="C020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📇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35608" y="174650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CRM ตามรอบซื้อ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1435608" y="20574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แบ่งเป็น 3 กลุ่ม: ใกล้ถึงรอบสั่งถัดไป · ขาดการซื้อ 1 เดือน · ขาดการซื้อ 2 เดือนขึ้นไป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752344"/>
            <a:ext cx="566928" cy="566928"/>
          </a:xfrm>
          <a:prstGeom prst="ellipse">
            <a:avLst/>
          </a:prstGeom>
          <a:solidFill>
            <a:srgbClr val="E5732F"/>
          </a:solidFill>
          <a:ln w="12700">
            <a:solidFill>
              <a:srgbClr val="E573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752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🏷️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435608" y="27157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จัดสินค้ารายร้าน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1435608" y="302666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กำหนดว่าร้านไหนเห็นสินค้าตัวไหน ราคาเท่าไหร่ · คัดลอกการจัดจากร้านอื่นได้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721608"/>
            <a:ext cx="566928" cy="566928"/>
          </a:xfrm>
          <a:prstGeom prst="ellipse">
            <a:avLst/>
          </a:prstGeom>
          <a:solidFill>
            <a:srgbClr val="7A1412"/>
          </a:solidFill>
          <a:ln w="12700">
            <a:solidFill>
              <a:srgbClr val="7A141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721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📣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435608" y="36850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บรอดแคสต์เข้าไลน์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1435608" y="39959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ส่งข้อความ/รูป หาหลายร้านพร้อมกัน หรือเลือกเฉพาะร้านที่เข้าเกณฑ์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690872"/>
            <a:ext cx="566928" cy="566928"/>
          </a:xfrm>
          <a:prstGeom prst="ellipse">
            <a:avLst/>
          </a:prstGeom>
          <a:solidFill>
            <a:srgbClr val="0F7A5C"/>
          </a:solidFill>
          <a:ln w="12700">
            <a:solidFill>
              <a:srgbClr val="0F7A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690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🔥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465429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โปรลดราคาตามเวลา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435608" y="496519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ตั้งราคาโปรพร้อมวันเวลาเริ่ม-หมดเขต ระบบเปลี่ยนราคาจริงให้ตามเวลา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5660136"/>
            <a:ext cx="566928" cy="566928"/>
          </a:xfrm>
          <a:prstGeom prst="ellipse">
            <a:avLst/>
          </a:prstGeom>
          <a:solidFill>
            <a:srgbClr val="3D6B8C"/>
          </a:solidFill>
          <a:ln w="12700">
            <a:solidFill>
              <a:srgbClr val="3D6B8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56601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🗺️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435608" y="562356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แผนที่ลูกค้า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1435608" y="59344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หมุดขนาด/สีตามยอดขาย ใช้วางแผนสายส่งและหาร้านใกล้กัน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14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ของใหม่ build 25/08-A — ลูกค้าใหม่รายวัน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กดการ์ด "ลูกค้าใหม่" บนหน้าภาพรวม แล้วดูได้ 3 มุมมอง</a:t>
            </a:r>
            <a:endParaRPr lang="en-US" sz="1450" dirty="0"/>
          </a:p>
        </p:txBody>
      </p:sp>
      <p:pic>
        <p:nvPicPr>
          <p:cNvPr id="4" name="Image 0" descr="/home/user/mix888-ops/docs/img/03b-newcust-day-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6903720" cy="43159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5943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มุมมองรายวัน — กดแถบวันเพื่อกางรายชื่อของวันนั้น (ข้อมูลตัวอย่าง)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726680" y="1691640"/>
            <a:ext cx="3913632" cy="1207008"/>
          </a:xfrm>
          <a:prstGeom prst="roundRect">
            <a:avLst>
              <a:gd name="adj" fmla="val 10606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09560" y="1993392"/>
            <a:ext cx="548640" cy="548640"/>
          </a:xfrm>
          <a:prstGeom prst="ellipse">
            <a:avLst/>
          </a:prstGeom>
          <a:solidFill>
            <a:srgbClr val="C0201F"/>
          </a:solidFill>
          <a:ln w="12700">
            <a:solidFill>
              <a:srgbClr val="C0201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09560" y="1993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📅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13648" y="1856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รายวัน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613648" y="216712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วันไหนเพิ่มกี่ราย พร้อมแถบเทียบ และกางดูรายชื่อของวันนั้นได้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726680" y="3063240"/>
            <a:ext cx="3913632" cy="1207008"/>
          </a:xfrm>
          <a:prstGeom prst="roundRect">
            <a:avLst>
              <a:gd name="adj" fmla="val 10606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909560" y="3364992"/>
            <a:ext cx="548640" cy="548640"/>
          </a:xfrm>
          <a:prstGeom prst="ellipse">
            <a:avLst/>
          </a:prstGeom>
          <a:solidFill>
            <a:srgbClr val="E5732F"/>
          </a:solidFill>
          <a:ln w="12700">
            <a:solidFill>
              <a:srgbClr val="E5732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90956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🙋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613648" y="32278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คนเพิ่ม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613648" y="353872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ใครเพิ่มกี่ราย กี่วัน เฉลี่ยต่อวัน และยอดสั่งซื้อรวมที่ตามมา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26680" y="4434840"/>
            <a:ext cx="3913632" cy="1207008"/>
          </a:xfrm>
          <a:prstGeom prst="roundRect">
            <a:avLst>
              <a:gd name="adj" fmla="val 10606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909560" y="4736592"/>
            <a:ext cx="548640" cy="548640"/>
          </a:xfrm>
          <a:prstGeom prst="ellipse">
            <a:avLst/>
          </a:prstGeom>
          <a:solidFill>
            <a:srgbClr val="0F7A5C"/>
          </a:solidFill>
          <a:ln w="12700">
            <a:solidFill>
              <a:srgbClr val="0F7A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909560" y="4736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📋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613648" y="45994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รายชื่อทั้งหมด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613648" y="491032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รายชื่อร้านทั้งหมดในช่วง พร้อมคนเพิ่ม เซลล์ และยอดสั่งซื้อ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726680" y="5870448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ลูกค้าที่เพิ่มก่อนอัปเดตนี้ยังไม่มีชื่อคนกดเพิ่ม ระบบจะแสดงชื่อเซลล์เจ้าของรหัสแทนพร้อมเครื่องหมาย *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14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ความปลอดภัยและสิทธิ์การใช้งาน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ข้อมูลจริงอยู่หลังกำแพงสิทธิ์ ไม่ได้เปิดโล่งตามลิงก์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66928" cy="566928"/>
          </a:xfrm>
          <a:prstGeom prst="ellipse">
            <a:avLst/>
          </a:prstGeom>
          <a:solidFill>
            <a:srgbClr val="7A1412"/>
          </a:solidFill>
          <a:ln w="12700">
            <a:solidFill>
              <a:srgbClr val="7A141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🔐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35608" y="174650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ล็อกอินผู้ใช้จริง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1435608" y="20574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ผู้ใช้แต่ละคนมีบัญชีของตัวเอง แยกบทบาท admin กับ staff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18504" y="1783080"/>
            <a:ext cx="566928" cy="566928"/>
          </a:xfrm>
          <a:prstGeom prst="ellipse">
            <a:avLst/>
          </a:prstGeom>
          <a:solidFill>
            <a:srgbClr val="C0201F"/>
          </a:solidFill>
          <a:ln w="12700">
            <a:solidFill>
              <a:srgbClr val="C020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18504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🛡️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068312" y="174650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ปิดสิทธิ์ทุกตาราง (RLS)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7068312" y="20574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ต่อให้รู้คีย์สาธารณะ ก็อ่านข้อมูลตรง ๆ ไม่ได้ ต้องผ่านสิทธิ์ที่กำหนดไว้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246120"/>
            <a:ext cx="566928" cy="566928"/>
          </a:xfrm>
          <a:prstGeom prst="ellipse">
            <a:avLst/>
          </a:prstGeom>
          <a:solidFill>
            <a:srgbClr val="E5732F"/>
          </a:solidFill>
          <a:ln w="12700">
            <a:solidFill>
              <a:srgbClr val="E573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246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🔢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435608" y="320954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PIN 6 หลักฝั่งลูกค้า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1435608" y="35204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กันคนที่ได้ลิงก์ไปสั่งของแทนร้าน · ลูกค้าตั้งรหัสใหม่เองได้ทางไลน์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18504" y="3246120"/>
            <a:ext cx="566928" cy="566928"/>
          </a:xfrm>
          <a:prstGeom prst="ellipse">
            <a:avLst/>
          </a:prstGeom>
          <a:solidFill>
            <a:srgbClr val="0F7A5C"/>
          </a:solidFill>
          <a:ln w="12700">
            <a:solidFill>
              <a:srgbClr val="0F7A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18504" y="3246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💰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068312" y="320954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ล็อกหน้าต้นทุน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7068312" y="35204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ต้นทุนและกำไรเปิดดูได้เฉพาะคนที่รู้รหัส 6 หลักอีกชั้น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4709160"/>
            <a:ext cx="566928" cy="566928"/>
          </a:xfrm>
          <a:prstGeom prst="ellipse">
            <a:avLst/>
          </a:prstGeom>
          <a:solidFill>
            <a:srgbClr val="3D6B8C"/>
          </a:solidFill>
          <a:ln w="12700">
            <a:solidFill>
              <a:srgbClr val="3D6B8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709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🎲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435608" y="467258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ชื่อไฟล์บิลแบบสุ่ม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1435608" y="49834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ไฟล์บิล/สลิปในที่เก็บไฟล์ใช้ชื่อสุ่ม เดาลิงก์ของบิลใบอื่นไม่ได้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18504" y="4709160"/>
            <a:ext cx="566928" cy="566928"/>
          </a:xfrm>
          <a:prstGeom prst="ellipse">
            <a:avLst/>
          </a:prstGeom>
          <a:solidFill>
            <a:srgbClr val="6B4E9B"/>
          </a:solidFill>
          <a:ln w="12700">
            <a:solidFill>
              <a:srgbClr val="6B4E9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18504" y="4709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💾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068312" y="467258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สำรองข้อมูลเองได้</a:t>
            </a:r>
            <a:endParaRPr lang="en-US" sz="1650" dirty="0"/>
          </a:p>
        </p:txBody>
      </p:sp>
      <p:sp>
        <p:nvSpPr>
          <p:cNvPr id="27" name="Text 25"/>
          <p:cNvSpPr txBox="1"/>
          <p:nvPr/>
        </p:nvSpPr>
        <p:spPr>
          <a:xfrm>
            <a:off x="7068312" y="49834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กดปุ่มเดียวดึงทุกตารางเป็นไฟล์เก็บไว้ แนะนำทำสัปดาห์ละครั้ง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14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ข้อดีของระบบนี้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สรุปสิ่งที่ได้จริงหลังใช้งาน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529584" cy="2057400"/>
          </a:xfrm>
          <a:prstGeom prst="roundRect">
            <a:avLst>
              <a:gd name="adj" fmla="val 6222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93392"/>
            <a:ext cx="603504" cy="603504"/>
          </a:xfrm>
          <a:prstGeom prst="ellipse">
            <a:avLst/>
          </a:prstGeom>
          <a:solidFill>
            <a:srgbClr val="C0201F"/>
          </a:solidFill>
          <a:ln w="12700">
            <a:solidFill>
              <a:srgbClr val="C020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933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⚡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เร็วขึ้นมาก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ออกบิล ตัดสต๊อก วาดรูป และส่งไลน์ จบในคลิกเดียว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79392" y="1737360"/>
            <a:ext cx="3529584" cy="2057400"/>
          </a:xfrm>
          <a:prstGeom prst="roundRect">
            <a:avLst>
              <a:gd name="adj" fmla="val 6222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35424" y="1993392"/>
            <a:ext cx="603504" cy="603504"/>
          </a:xfrm>
          <a:prstGeom prst="ellipse">
            <a:avLst/>
          </a:prstGeom>
          <a:solidFill>
            <a:srgbClr val="E5732F"/>
          </a:solidFill>
          <a:ln w="12700">
            <a:solidFill>
              <a:srgbClr val="E573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35424" y="19933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🎯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35424" y="26974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ผิดพลาดน้อยลง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35424" y="30632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ลูกค้ากดสั่งเอง ไม่ต้องตีความข้อความ · สต๊อกตัดอัตโนมัติ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91856" y="1737360"/>
            <a:ext cx="3529584" cy="2057400"/>
          </a:xfrm>
          <a:prstGeom prst="roundRect">
            <a:avLst>
              <a:gd name="adj" fmla="val 6222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47888" y="1993392"/>
            <a:ext cx="603504" cy="603504"/>
          </a:xfrm>
          <a:prstGeom prst="ellipse">
            <a:avLst/>
          </a:prstGeom>
          <a:solidFill>
            <a:srgbClr val="0F7A5C"/>
          </a:solidFill>
          <a:ln w="12700">
            <a:solidFill>
              <a:srgbClr val="0F7A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47888" y="19933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👀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47888" y="26974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เห็นตัวเลขทันที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47888" y="30632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ยอดขาย กำไร ลูกหนี้ สต๊อก อัปเดตสด ไม่ต้องรอปิดเดือน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023360"/>
            <a:ext cx="3529584" cy="2057400"/>
          </a:xfrm>
          <a:prstGeom prst="roundRect">
            <a:avLst>
              <a:gd name="adj" fmla="val 6222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279392"/>
            <a:ext cx="603504" cy="603504"/>
          </a:xfrm>
          <a:prstGeom prst="ellipse">
            <a:avLst/>
          </a:prstGeom>
          <a:solidFill>
            <a:srgbClr val="7A1412"/>
          </a:solidFill>
          <a:ln w="12700">
            <a:solidFill>
              <a:srgbClr val="7A141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2793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💵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9834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ค่าใช้จ่ายต่ำ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3492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ใช้บริการฟรีทีเออร์ + NAS ที่มีอยู่แล้ว ไม่มีค่าไลเซนส์รายเดือน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79392" y="4023360"/>
            <a:ext cx="3529584" cy="2057400"/>
          </a:xfrm>
          <a:prstGeom prst="roundRect">
            <a:avLst>
              <a:gd name="adj" fmla="val 6222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35424" y="4279392"/>
            <a:ext cx="603504" cy="603504"/>
          </a:xfrm>
          <a:prstGeom prst="ellipse">
            <a:avLst/>
          </a:prstGeom>
          <a:solidFill>
            <a:srgbClr val="8A5A2B"/>
          </a:solidFill>
          <a:ln w="12700">
            <a:solidFill>
              <a:srgbClr val="8A5A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35424" y="42793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🧩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535424" y="49834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ปรับตามงานจริง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4535424" y="53492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เขียนเองทั้งหมด อยากได้อะไรเพิ่มก็แก้ได้ ไม่ต้องรอเวนเดอร์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91856" y="4023360"/>
            <a:ext cx="3529584" cy="2057400"/>
          </a:xfrm>
          <a:prstGeom prst="roundRect">
            <a:avLst>
              <a:gd name="adj" fmla="val 6222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47888" y="4279392"/>
            <a:ext cx="603504" cy="603504"/>
          </a:xfrm>
          <a:prstGeom prst="ellipse">
            <a:avLst/>
          </a:prstGeom>
          <a:solidFill>
            <a:srgbClr val="3D6B8C"/>
          </a:solidFill>
          <a:ln w="12700">
            <a:solidFill>
              <a:srgbClr val="3D6B8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47888" y="42793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📶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247888" y="49834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ทำงานต่อเองได้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247888" y="53492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รอบอัตโนมัติวิ่งบนคลาวด์ ไม่ต้องมีใครเปิดเครื่องรอ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ข้อควรรู้: ระบบนี้ผูกกับคนที่ดูแลโค้ด — ควรเก็บไฟล์สำรองและเอกสารไว้เสมอ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14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กำลังทำต่อ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747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สิ่งที่วางไว้ในคิวถัดไป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64240" cy="960120"/>
          </a:xfrm>
          <a:prstGeom prst="roundRect">
            <a:avLst>
              <a:gd name="adj" fmla="val 13333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84248"/>
            <a:ext cx="548640" cy="548640"/>
          </a:xfrm>
          <a:prstGeom prst="ellipse">
            <a:avLst/>
          </a:prstGeom>
          <a:solidFill>
            <a:srgbClr val="C0201F"/>
          </a:solidFill>
          <a:ln w="12700">
            <a:solidFill>
              <a:srgbClr val="C020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36192" y="19110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สั่งของผ่านบอทไลน์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40680" y="1965960"/>
            <a:ext cx="5989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ให้ลูกค้าพิมพ์สั่งในกลุ่มไลน์ได้เลย ไม่ต้องเปิดลิงก์ — รอโค้ด webhook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916936"/>
            <a:ext cx="11064240" cy="960120"/>
          </a:xfrm>
          <a:prstGeom prst="roundRect">
            <a:avLst>
              <a:gd name="adj" fmla="val 13333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3118104"/>
            <a:ext cx="548640" cy="548640"/>
          </a:xfrm>
          <a:prstGeom prst="ellipse">
            <a:avLst/>
          </a:prstGeom>
          <a:solidFill>
            <a:srgbClr val="C0201F"/>
          </a:solidFill>
          <a:ln w="12700">
            <a:solidFill>
              <a:srgbClr val="C020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3118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536192" y="30449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ปริ้นเตอร์ส่งเมลอัตโนมัติ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3099816"/>
            <a:ext cx="5989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ให้เครื่องพิมพ์ยิงไฟล์บิลเข้าอีเมลอัตโนมัติ — รอ API key และอีเมลของเครื่อง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4050792"/>
            <a:ext cx="11064240" cy="960120"/>
          </a:xfrm>
          <a:prstGeom prst="roundRect">
            <a:avLst>
              <a:gd name="adj" fmla="val 13333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251960"/>
            <a:ext cx="548640" cy="548640"/>
          </a:xfrm>
          <a:prstGeom prst="ellipse">
            <a:avLst/>
          </a:prstGeom>
          <a:solidFill>
            <a:srgbClr val="8A7472"/>
          </a:solidFill>
          <a:ln w="12700">
            <a:solidFill>
              <a:srgbClr val="8A747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536192" y="41788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ย้ายลูกค้าเมื่อเซลล์ลาออก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4233672"/>
            <a:ext cx="5989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สคริปต์ย้ายลูกค้าและเปลี่ยนรหัส 3 ตัวหน้าเตรียมไว้แล้ว ยังไม่ได้ใช้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5184648"/>
            <a:ext cx="11064240" cy="960120"/>
          </a:xfrm>
          <a:prstGeom prst="roundRect">
            <a:avLst>
              <a:gd name="adj" fmla="val 13333"/>
            </a:avLst>
          </a:prstGeom>
          <a:solidFill>
            <a:srgbClr val="FBF1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5385816"/>
            <a:ext cx="548640" cy="548640"/>
          </a:xfrm>
          <a:prstGeom prst="ellipse">
            <a:avLst/>
          </a:prstGeom>
          <a:solidFill>
            <a:srgbClr val="8A7472"/>
          </a:solidFill>
          <a:ln w="12700">
            <a:solidFill>
              <a:srgbClr val="8A747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" y="5385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536192" y="53126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61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เปลี่ยนกุญแจของ NAS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440680" y="5367528"/>
            <a:ext cx="5989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3B3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เปลี่ยนรหัสลับที่ NAS ใช้คุยกับคลาวด์ให้เป็นตัวใหม่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6263640"/>
            <a:ext cx="11064240" cy="457200"/>
          </a:xfrm>
          <a:prstGeom prst="roundRect">
            <a:avLst>
              <a:gd name="adj" fmla="val 28000"/>
            </a:avLst>
          </a:prstGeom>
          <a:solidFill>
            <a:srgbClr val="F6EFEC"/>
          </a:solidFill>
          <a:ln w="12700">
            <a:solidFill>
              <a:srgbClr val="EDDCD5"/>
            </a:solidFill>
            <a:prstDash val="solid"/>
          </a:ln>
          <a:effectLst>
            <a:outerShdw sx="100000" sy="100000" kx="0" ky="0" algn="bl" rotWithShape="0" blurRad="127000" dist="19050" dir="54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22960" y="633679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14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ยังไม่ตัดสินใจ: อัปเกรด Supabase Pro (~$25/เดือน) — ความจำเป็นลดลงมากหลังย้ายงานวาดบิลไปที่ NAS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7A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291840"/>
            <a:ext cx="5669280" cy="5669280"/>
          </a:xfrm>
          <a:prstGeom prst="ellipse">
            <a:avLst/>
          </a:prstGeom>
          <a:solidFill>
            <a:srgbClr val="5C0F0E"/>
          </a:solidFill>
          <a:ln w="12700">
            <a:solidFill>
              <a:srgbClr val="5C0F0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1234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สรุป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1005840" y="2432304"/>
            <a:ext cx="201168" cy="20116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81328" y="23225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หนึ่งลิงก์ต่อร้าน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303520" y="23591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C9C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ลูกค้าสั่งของเองได้จากมือถือ ไม่ต้องโหลดแอป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005840" y="3401568"/>
            <a:ext cx="201168" cy="20116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81328" y="3291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หนึ่งหน้าจอต่อพนักงาน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332841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C9C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ขาย บัญชี สต๊อก จัดซื้อ อยู่ในเว็บเดียว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05840" y="4370832"/>
            <a:ext cx="201168" cy="20116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81328" y="42611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หนึ่งฐานข้อมูล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4297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C9C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ตัวเลขทุกหน้าตรงกันเสมอ ไม่มีไฟล์แยก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05840" y="5340096"/>
            <a:ext cx="201168" cy="20116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81328" y="52303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ทำงานต่อเองได้ทุกวัน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526694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C9C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ออกบิลและสรุปเข้าไลน์อัตโนมัติแม้ไม่มีใครเปิดคอม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A19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Mix Fresh 168 · ระบบสั่งสินค้า B2B · build 25/08-A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ระบบสั่งสินค้า B2B Mix888</dc:title>
  <dc:subject>PptxGenJS Presentation</dc:subject>
  <dc:creator>Mix Fresh 168</dc:creator>
  <cp:lastModifiedBy>Mix Fresh 168</cp:lastModifiedBy>
  <cp:revision>1</cp:revision>
  <dcterms:created xsi:type="dcterms:W3CDTF">2026-08-27T21:20:11Z</dcterms:created>
  <dcterms:modified xsi:type="dcterms:W3CDTF">2026-08-27T21:20:11Z</dcterms:modified>
</cp:coreProperties>
</file>